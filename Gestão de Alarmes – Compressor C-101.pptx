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7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9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grupo e a ideia central em uma frase: construímos um motor de gestão de alarmes em Python e uma interface que mostra, lado a lado, o antes e o depois. O título resume a tese: o operador não precisa de mais alarmes, precisa de menos alarmes e mais claros, para conseguir decidir. As quatro prioridades à direita são as mesmas que vão aparecer na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partida da história. Numa sala de controle, o operador acompanha centenas de variáveis. Se o sistema de alarmes for mal configurado, cada pequeno desvio vira uma notificação. Um sensor de nível oscilando em cima do limite, por exemplo, gera uma linha nova a cada cruzamento. O resultado é a inundação de alarmes: quando chega o alarme que realmente exige ação, ele está enterrado no meio do ruído. Foi esse problema que motivou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não inventar regras, partimos de duas referências. A ISA-18.2, equivalente à IEC 62682, trata do ciclo de vida dos alarmes: como priorizar, quando inibir, como o operador reconhece. A ISA-101 trata da interface: telas em tons neutros, com cor só para o que foge do normal. Deixar claro para a banca: usamos essas normas como base conceitual. O projeto é acadêmico, com dados simulados, e não afirma conformidade.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estrutura. São quatro peças em linha. A simulação gera os sinais do compressor fictício, sempre os mesmos porque a semente é fixa. O motor, que é o coração do trabalho, recebe cada amostra e decide. O servidor, feito só com a biblioteca padrão do Python, expõe o estado do motor em JSON. O navegador apenas desenha e manda de volta os cliques, como o botão Reconhecer. Isso é importante: a interface não simula resultados, ela mostra o motor real funcionando. Em volta, os testes automatizados e os atalhos para rodar tudo no Windows ou no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das correções mais importantes da P2 é o ciclo de vida. Quando o alarme dispara, ele está ativo e não reconhecido: a linha fica marcada e o ponto pisca. Se o operador clica em Reconhecer, ele passa a ativo reconhecido, mas continua na lista, porque o problema ainda existe. Só quando o processo normaliza ele sai. O outro caminho: se o processo volta ao normal antes do operador ver, o alarme fica como normalizado aguardando reconhecimento, para que o operador saiba que algo aconteceu. Toda ação do operador fica registrada com nome e horário.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demonstrar, criamos um roteiro de 150 segundos com seis sensores. No início, tudo normal, mas o nível do vaso de óleo de selagem fica oscilando em cima do limite: é o nosso ruído proposital. Aos 30 segundos a pressão de descarga começa a subir, aos 62 passa de 85 bar de forma sustentada e aos 75 o compressor desarma. Com o trip, vazão, pressão do coletor e temperatura do resfriador se desviam, que são as consequências. Aos 95 segundos o sensor de temperatura do mancal perde o sinal, e aos 115 ele volta. Como a semente é fixa, o resultado é sempre o mesmo, o que permite comparar os dois cenários de forma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Chegamos à interface. As mesmas amostras alimentam duas telas ao mesmo tempo. À esquerda, o cenário A: um anunciador sem nenhum tratamento, feito de propósito no estilo antigo, fundo preto, tudo vermelho e amarelo piscando, e uma linha nova a cada cruzamento do limite. À direita, o cenário B, que segue a filosofia ISA-101: fundo cinza neutro, cor só para alarmes, e a prioridade indicada por cor e forma ao mesmo tempo, para não depender só da percepção de cor. Repare que os três sintomas do trip aparecem recuados, logo abaixo da causa, rebaixados para P4. E o sensor em falha aparece como sinal ruim, enquanto no A ele mostra 0,0 como se estivesse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Detalhando a tela B, que é a nossa proposta. No topo, a visão de processo com os seis sensores: valor atual, limite e, se houver alarme, a prioridade. Um sensor em falha fica hachurado e escrito sinal ruim. No meio, a lista de alarmes ordenada pelo motor: primeiro o que o operador ainda não viu, depois por prioridade e horário. Os sintomas ficam recuados com uma seta, abaixo da causa-raiz. Embaixo, o registro do operador, com quem reconheceu e quando, e o quadro de transparência, que conta tudo o que o filtro agrupou ou inibiu. A ideia é mostrar que o filtro organiza, mas não esconde nada. No cabeçalho ficam os controles da simulação.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Retomar a história em uma frase: começamos com um problema real, a inundação de alarmes; construímos o motor na P1; auditamos e corrigimos na P2 com testes; e mostramos na interface que as mesmas 301 amostras viram 109 avisos sem tratamento ou 5 alarmes claros com o motor. Agradecer e abrir para perguntas. Perguntas prováveis: por que o alarme de instrumento do TT-105 é P3 (porque a tag original é P2, e o motor rebaixa um nível; só tags críticas geram alarme de instrumento P2); e o que acontece com os sintomas quando a causa sai da lista (continuam em P4).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4521"/>
            <a:ext cx="10566400" cy="417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4521"/>
            <a:ext cx="10566400" cy="417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580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COM8 · IUM/IHM · PROJETO P2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50440"/>
            <a:ext cx="771779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alarmes,</a:t>
            </a:r>
            <a:endParaRPr lang="en-US" sz="56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decisão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47160"/>
            <a:ext cx="77177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alarmes industriais e uma IHM de alto desempenho para o compressor C-101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347200" y="2286000"/>
            <a:ext cx="2032000" cy="2133600"/>
          </a:xfrm>
          <a:prstGeom prst="roundRect">
            <a:avLst>
              <a:gd name="adj" fmla="val 2500"/>
            </a:avLst>
          </a:prstGeom>
          <a:solidFill>
            <a:srgbClr val="2A2F34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0" y="2463800"/>
            <a:ext cx="1727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AEB5B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PRIORIDADES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0" y="2778760"/>
            <a:ext cx="1676400" cy="289560"/>
          </a:xfrm>
          <a:prstGeom prst="roundRect">
            <a:avLst>
              <a:gd name="adj" fmla="val 8772"/>
            </a:avLst>
          </a:prstGeom>
          <a:solidFill>
            <a:srgbClr val="B42318"/>
          </a:solidFill>
          <a:ln/>
        </p:spPr>
        <p:txBody>
          <a:bodyPr wrap="square" lIns="81461" tIns="30661" rIns="30661" bIns="526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P1 CRÍTICA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0" y="3169920"/>
            <a:ext cx="1676400" cy="289560"/>
          </a:xfrm>
          <a:prstGeom prst="roundRect">
            <a:avLst>
              <a:gd name="adj" fmla="val 8772"/>
            </a:avLst>
          </a:prstGeom>
          <a:solidFill>
            <a:srgbClr val="F08C00"/>
          </a:solidFill>
          <a:ln/>
        </p:spPr>
        <p:txBody>
          <a:bodyPr wrap="square" lIns="81461" tIns="30661" rIns="30661" bIns="526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P2 ALTA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0" y="3561080"/>
            <a:ext cx="1676400" cy="289560"/>
          </a:xfrm>
          <a:prstGeom prst="roundRect">
            <a:avLst>
              <a:gd name="adj" fmla="val 8772"/>
            </a:avLst>
          </a:prstGeom>
          <a:solidFill>
            <a:srgbClr val="F2C94C"/>
          </a:solidFill>
          <a:ln/>
        </p:spPr>
        <p:txBody>
          <a:bodyPr wrap="square" lIns="81461" tIns="30661" rIns="30661" bIns="526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P3 MÉDIA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0" y="3952240"/>
            <a:ext cx="1676400" cy="289560"/>
          </a:xfrm>
          <a:prstGeom prst="roundRect">
            <a:avLst>
              <a:gd name="adj" fmla="val 8772"/>
            </a:avLst>
          </a:prstGeom>
          <a:solidFill>
            <a:srgbClr val="2463A6"/>
          </a:solidFill>
          <a:ln/>
        </p:spPr>
        <p:txBody>
          <a:bodyPr wrap="square" lIns="81461" tIns="30661" rIns="30661" bIns="526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P4 BAIXA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tudo alarma,</a:t>
            </a:r>
            <a:endParaRPr lang="en-US" sz="56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alarma.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2800" y="3957320"/>
            <a:ext cx="3386614" cy="1884680"/>
          </a:xfrm>
          <a:prstGeom prst="roundRect">
            <a:avLst>
              <a:gd name="adj" fmla="val 2695"/>
            </a:avLst>
          </a:prstGeom>
          <a:solidFill>
            <a:srgbClr val="2A2F34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3957320"/>
            <a:ext cx="3386614" cy="1884680"/>
          </a:xfrm>
          <a:custGeom>
            <a:avLst/>
            <a:gdLst/>
            <a:ahLst/>
            <a:cxnLst/>
            <a:rect l="l" t="t" r="r" b="b"/>
            <a:pathLst>
              <a:path w="3386614" h="1884680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3335814" y="0"/>
                </a:lnTo>
                <a:arcTo wR="50800" hR="50800" stAng="16200000" swAng="5400000"/>
                <a:lnTo>
                  <a:pt x="3386614" y="50800"/>
                </a:lnTo>
                <a:arcTo wR="50800" hR="25400" stAng="0" swAng="-5400000"/>
                <a:lnTo>
                  <a:pt x="50800" y="25400"/>
                </a:lnTo>
                <a:arcTo wR="50800" hR="25400" stAng="162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4211320"/>
            <a:ext cx="30172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1400" y="4617720"/>
            <a:ext cx="3017296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mal configurado transforma cada desvio em um aviso, e a lista cresce mais rápido do que alguém consegue ler.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3957320"/>
            <a:ext cx="3386693" cy="1884680"/>
          </a:xfrm>
          <a:prstGeom prst="roundRect">
            <a:avLst>
              <a:gd name="adj" fmla="val 2695"/>
            </a:avLst>
          </a:prstGeom>
          <a:solidFill>
            <a:srgbClr val="2A2F34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14" y="3957320"/>
            <a:ext cx="3386693" cy="1884680"/>
          </a:xfrm>
          <a:custGeom>
            <a:avLst/>
            <a:gdLst/>
            <a:ahLst/>
            <a:cxnLst/>
            <a:rect l="l" t="t" r="r" b="b"/>
            <a:pathLst>
              <a:path w="3386693" h="1884680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3335893" y="0"/>
                </a:lnTo>
                <a:arcTo wR="50800" hR="50800" stAng="16200000" swAng="5400000"/>
                <a:lnTo>
                  <a:pt x="3386693" y="50800"/>
                </a:lnTo>
                <a:arcTo wR="50800" hR="25400" stAng="0" swAng="-5400000"/>
                <a:lnTo>
                  <a:pt x="50800" y="25400"/>
                </a:lnTo>
                <a:arcTo wR="50800" hR="25400" stAng="162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4631214" y="4211320"/>
            <a:ext cx="3017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Ruído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1214" y="4617720"/>
            <a:ext cx="301737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sinal oscilando em torno do limite gera dezenas de linhas repetidas que não pedem nenhuma 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07" y="3957320"/>
            <a:ext cx="3386693" cy="1884680"/>
          </a:xfrm>
          <a:prstGeom prst="roundRect">
            <a:avLst>
              <a:gd name="adj" fmla="val 2695"/>
            </a:avLst>
          </a:prstGeom>
          <a:solidFill>
            <a:srgbClr val="2A2F34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07" y="3957320"/>
            <a:ext cx="3386693" cy="1884680"/>
          </a:xfrm>
          <a:custGeom>
            <a:avLst/>
            <a:gdLst/>
            <a:ahLst/>
            <a:cxnLst/>
            <a:rect l="l" t="t" r="r" b="b"/>
            <a:pathLst>
              <a:path w="3386693" h="1884680">
                <a:moveTo>
                  <a:pt x="0" y="50800"/>
                </a:moveTo>
                <a:lnTo>
                  <a:pt x="0" y="50800"/>
                </a:lnTo>
                <a:arcTo wR="50800" hR="50800" stAng="10800000" swAng="5400000"/>
                <a:lnTo>
                  <a:pt x="3335893" y="0"/>
                </a:lnTo>
                <a:arcTo wR="50800" hR="50800" stAng="16200000" swAng="5400000"/>
                <a:lnTo>
                  <a:pt x="3386693" y="50800"/>
                </a:lnTo>
                <a:arcTo wR="50800" hR="25400" stAng="0" swAng="-5400000"/>
                <a:lnTo>
                  <a:pt x="50800" y="25400"/>
                </a:lnTo>
                <a:arcTo wR="50800" hR="25400" stAng="162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107" y="4211320"/>
            <a:ext cx="30173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1107" y="4617720"/>
            <a:ext cx="301737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alarme que importa chega no meio do ruído. O operador demora a ver e reage tarde.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usadas como referência conceitual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3315336"/>
            <a:ext cx="3383677" cy="2523490"/>
          </a:xfrm>
          <a:prstGeom prst="roundRect">
            <a:avLst>
              <a:gd name="adj" fmla="val 2894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571241"/>
            <a:ext cx="29580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ISA-18.2 · IEC 62682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3886200"/>
            <a:ext cx="295802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alarmes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4292600"/>
            <a:ext cx="295802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do alarme, racionalização, prioridades e inibição conforme o modo de operação da planta.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9202" y="3315336"/>
            <a:ext cx="3383756" cy="2523490"/>
          </a:xfrm>
          <a:prstGeom prst="roundRect">
            <a:avLst>
              <a:gd name="adj" fmla="val 2894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5107" y="3571241"/>
            <a:ext cx="29581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ISA-101.01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5107" y="3886200"/>
            <a:ext cx="295810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IHM de alto desempenho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5107" y="4597400"/>
            <a:ext cx="295810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neutro, cor reservada para o que está anormal e hierarquia visual que guia o olhar do operador.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9333" y="3312161"/>
            <a:ext cx="3379867" cy="2529840"/>
          </a:xfrm>
          <a:prstGeom prst="roundRect">
            <a:avLst>
              <a:gd name="adj" fmla="val 3012"/>
            </a:avLst>
          </a:prstGeom>
          <a:solidFill>
            <a:srgbClr val="1E22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53333" y="3566161"/>
            <a:ext cx="29580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Nossa posição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3333" y="3881120"/>
            <a:ext cx="295802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Conceitos, não certificação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53333" y="4592320"/>
            <a:ext cx="2958023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 as ideias das normas, mas não declaramos conformidade. Os dados são simulados e não houve validação em planta real.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alarmes · Compressor C-101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peças, um único caminho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2332990" cy="1596390"/>
          </a:xfrm>
          <a:prstGeom prst="roundRect">
            <a:avLst>
              <a:gd name="adj" fmla="val 4574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06600"/>
            <a:ext cx="20327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2150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cenario_compressor.py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2626361"/>
            <a:ext cx="2032788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150 s de sinais de 6 sensores, sempre iguais (semente 42).</a:t>
            </a:r>
            <a:endParaRPr lang="en-US" sz="12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14040" y="2574289"/>
            <a:ext cx="4826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58540" y="1823721"/>
            <a:ext cx="2329180" cy="1602740"/>
          </a:xfrm>
          <a:prstGeom prst="roundRect">
            <a:avLst>
              <a:gd name="adj" fmla="val 4754"/>
            </a:avLst>
          </a:prstGeom>
          <a:solidFill>
            <a:srgbClr val="1E2226"/>
          </a:solidFill>
          <a:ln/>
        </p:spPr>
      </p:sp>
      <p:sp>
        <p:nvSpPr>
          <p:cNvPr id="10" name="Text 7"/>
          <p:cNvSpPr/>
          <p:nvPr/>
        </p:nvSpPr>
        <p:spPr>
          <a:xfrm>
            <a:off x="3736340" y="2001521"/>
            <a:ext cx="20327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736340" y="2357121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automacao.py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36340" y="2621282"/>
            <a:ext cx="2032788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Filtra, prioriza, correlaciona e controla o ciclo de vida dos alarmes.</a:t>
            </a:r>
            <a:endParaRPr lang="en-US" sz="12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9620" y="2574289"/>
            <a:ext cx="4826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97295" y="1826896"/>
            <a:ext cx="2332990" cy="1596390"/>
          </a:xfrm>
          <a:prstGeom prst="roundRect">
            <a:avLst>
              <a:gd name="adj" fmla="val 4574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7000" y="2006600"/>
            <a:ext cx="20327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77000" y="2362200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servidor_ihm.py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77000" y="2626361"/>
            <a:ext cx="20327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Expõe o motor por HTTP e JSON em localhost:8000.</a:t>
            </a:r>
            <a:endParaRPr lang="en-US" sz="1200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5360" y="2574289"/>
            <a:ext cx="4826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3035" y="1826896"/>
            <a:ext cx="2332990" cy="1596390"/>
          </a:xfrm>
          <a:prstGeom prst="roundRect">
            <a:avLst>
              <a:gd name="adj" fmla="val 4574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22740" y="2006600"/>
            <a:ext cx="203278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222740" y="2362200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ihm/index.html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22740" y="2626361"/>
            <a:ext cx="20327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 o estado e envia os cliques do operador.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9150" y="3686811"/>
            <a:ext cx="5168900" cy="795020"/>
          </a:xfrm>
          <a:prstGeom prst="roundRect">
            <a:avLst>
              <a:gd name="adj" fmla="val 8786"/>
            </a:avLst>
          </a:prstGeom>
          <a:noFill/>
          <a:ln w="12700">
            <a:solidFill>
              <a:srgbClr val="A9A6A0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1000760" y="3843021"/>
            <a:ext cx="49498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test_automacao.py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0760" y="4094482"/>
            <a:ext cx="49498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testes automatizados validam o motor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12800" y="47421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navegador não decide nada: cada clique chama o motor Python.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alarmes · Compressor C-101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CICLO DE VIDA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não resolve o alarme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325" y="1914525"/>
            <a:ext cx="2774950" cy="1060450"/>
          </a:xfrm>
          <a:prstGeom prst="roundRect">
            <a:avLst>
              <a:gd name="adj" fmla="val 6287"/>
            </a:avLst>
          </a:prstGeom>
          <a:solidFill>
            <a:srgbClr val="F8F7F4"/>
          </a:solidFill>
          <a:ln w="19050">
            <a:solidFill>
              <a:srgbClr val="1E2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440" y="2190750"/>
            <a:ext cx="253248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Ativo, não reconhecido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0440" y="2485389"/>
            <a:ext cx="25324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linha marcada e piscando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2175" y="1908175"/>
            <a:ext cx="2787650" cy="1073150"/>
          </a:xfrm>
          <a:prstGeom prst="roundRect">
            <a:avLst>
              <a:gd name="adj" fmla="val 6805"/>
            </a:avLst>
          </a:prstGeom>
          <a:solidFill>
            <a:srgbClr val="F8F7F4"/>
          </a:solidFill>
          <a:ln w="6350">
            <a:solidFill>
              <a:srgbClr val="A9A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6480" y="2190750"/>
            <a:ext cx="255341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Ativo, reconhecido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56480" y="2485389"/>
            <a:ext cx="25534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 condição continua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8525" y="3946525"/>
            <a:ext cx="2774950" cy="1060450"/>
          </a:xfrm>
          <a:prstGeom prst="roundRect">
            <a:avLst>
              <a:gd name="adj" fmla="val 6287"/>
            </a:avLst>
          </a:prstGeom>
          <a:solidFill>
            <a:srgbClr val="F8F7F4"/>
          </a:solidFill>
          <a:ln w="19050">
            <a:solidFill>
              <a:srgbClr val="1E2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6640" y="4104642"/>
            <a:ext cx="2532482" cy="507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08"/>
              </a:lnSpc>
              <a:buNone/>
            </a:pPr>
            <a:r>
              <a:rPr lang="en-US" sz="159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Normalizado, aguarda reconhecimento</a:t>
            </a:r>
            <a:endParaRPr lang="en-US" sz="1590" dirty="0"/>
          </a:p>
        </p:txBody>
      </p:sp>
      <p:sp>
        <p:nvSpPr>
          <p:cNvPr id="12" name="Text 10"/>
          <p:cNvSpPr/>
          <p:nvPr/>
        </p:nvSpPr>
        <p:spPr>
          <a:xfrm>
            <a:off x="4866640" y="4637801"/>
            <a:ext cx="2532482" cy="23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processo voltou ao normal</a:t>
            </a:r>
            <a:endParaRPr lang="en-US" sz="1196" dirty="0"/>
          </a:p>
        </p:txBody>
      </p:sp>
      <p:sp>
        <p:nvSpPr>
          <p:cNvPr id="13" name="Shape 11"/>
          <p:cNvSpPr/>
          <p:nvPr/>
        </p:nvSpPr>
        <p:spPr>
          <a:xfrm>
            <a:off x="8585200" y="2921000"/>
            <a:ext cx="2794000" cy="1079500"/>
          </a:xfrm>
          <a:prstGeom prst="roundRect">
            <a:avLst>
              <a:gd name="adj" fmla="val 7059"/>
            </a:avLst>
          </a:prstGeom>
          <a:solidFill>
            <a:srgbClr val="1E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737600" y="3206750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da lista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7600" y="350138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no histórico de eventos</a:t>
            </a:r>
            <a:endParaRPr lang="en-US" sz="1200" dirty="0"/>
          </a:p>
        </p:txBody>
      </p:sp>
      <p:pic>
        <p:nvPicPr>
          <p:cNvPr id="1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6000" y="2393950"/>
            <a:ext cx="1193800" cy="101600"/>
          </a:xfrm>
          <a:prstGeom prst="rect">
            <a:avLst/>
          </a:prstGeom>
        </p:spPr>
      </p:pic>
      <p:pic>
        <p:nvPicPr>
          <p:cNvPr id="17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59000" y="2933700"/>
            <a:ext cx="2590800" cy="1593850"/>
          </a:xfrm>
          <a:prstGeom prst="rect">
            <a:avLst/>
          </a:prstGeom>
        </p:spPr>
      </p:pic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42200" y="2393950"/>
            <a:ext cx="2590800" cy="577850"/>
          </a:xfrm>
          <a:prstGeom prst="rect">
            <a:avLst/>
          </a:prstGeom>
        </p:spPr>
      </p:pic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42200" y="3949700"/>
            <a:ext cx="2590800" cy="5778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06800" y="2133600"/>
            <a:ext cx="1092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336800" y="3556000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normaliza antes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594600" y="2133600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normaliza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94600" y="4572000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reconhece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12800" y="53340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registra quem tomou ciência e quando. O alarme só sai da lista quando o processo volta ao normal.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3175000"/>
            <a:ext cx="5283200" cy="762000"/>
          </a:xfrm>
          <a:prstGeom prst="roundRect">
            <a:avLst>
              <a:gd name="adj" fmla="val 6667"/>
            </a:avLst>
          </a:prstGeom>
          <a:solidFill>
            <a:srgbClr val="3A2A22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 CENÁRIO SIMULADO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segundos na vida do compressor C-101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7221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sensores · 1 amostra a cada 0,5 s · semente fixa 42, resultado sempre igual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543300"/>
            <a:ext cx="10566400" cy="25400"/>
          </a:xfrm>
          <a:prstGeom prst="rect">
            <a:avLst/>
          </a:prstGeom>
          <a:solidFill>
            <a:srgbClr val="5B6168"/>
          </a:solidFill>
          <a:ln/>
        </p:spPr>
      </p:sp>
      <p:pic>
        <p:nvPicPr>
          <p:cNvPr id="7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600" y="3479800"/>
            <a:ext cx="152400" cy="152400"/>
          </a:xfrm>
          <a:prstGeom prst="rect">
            <a:avLst/>
          </a:prstGeom>
        </p:spPr>
      </p:pic>
      <p:pic>
        <p:nvPicPr>
          <p:cNvPr id="8" name="Image 1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51150" y="3479800"/>
            <a:ext cx="152400" cy="152400"/>
          </a:xfrm>
          <a:prstGeom prst="rect">
            <a:avLst/>
          </a:prstGeom>
        </p:spPr>
      </p:pic>
      <p:pic>
        <p:nvPicPr>
          <p:cNvPr id="9" name="Image 2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400" y="3479800"/>
            <a:ext cx="152400" cy="152400"/>
          </a:xfrm>
          <a:prstGeom prst="rect">
            <a:avLst/>
          </a:prstGeom>
        </p:spPr>
      </p:pic>
      <p:pic>
        <p:nvPicPr>
          <p:cNvPr id="10" name="Image 3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1700" y="3441700"/>
            <a:ext cx="228600" cy="228600"/>
          </a:xfrm>
          <a:prstGeom prst="rect">
            <a:avLst/>
          </a:prstGeom>
        </p:spPr>
      </p:pic>
      <p:pic>
        <p:nvPicPr>
          <p:cNvPr id="11" name="Image 4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0" y="3479800"/>
            <a:ext cx="152400" cy="152400"/>
          </a:xfrm>
          <a:prstGeom prst="rect">
            <a:avLst/>
          </a:prstGeom>
        </p:spPr>
      </p:pic>
      <p:pic>
        <p:nvPicPr>
          <p:cNvPr id="12" name="Image 5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39200" y="3479800"/>
            <a:ext cx="152400" cy="1524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12800" y="2489200"/>
            <a:ext cx="2223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 s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812800" y="2763521"/>
            <a:ext cx="222377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do V-201 oscila em torno do limite (ruído)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2927350" y="3784600"/>
            <a:ext cx="261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30 s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2927350" y="4058921"/>
            <a:ext cx="30480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descarga começa a subir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181600" y="2489200"/>
            <a:ext cx="2223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62 s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181600" y="2763521"/>
            <a:ext cx="222377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passa de 85 bar de forma sustentada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096000" y="4038600"/>
            <a:ext cx="261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60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75 s · TRIP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096000" y="4312921"/>
            <a:ext cx="2616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Vazão, pressão do coletor e temperatura do resfriador se desviam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505700" y="2489200"/>
            <a:ext cx="1962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95 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7505700" y="2763521"/>
            <a:ext cx="196215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TT-105 do mancal perde o sinal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8915400" y="4038600"/>
            <a:ext cx="2537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115 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8915400" y="4312921"/>
            <a:ext cx="2537714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do TT-105 volta; pressão cai após o trip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EB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fictícios, gerados em cenario_compressor.py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 INTERFACE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planta, duas telas lado a lado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0071"/>
            <a:ext cx="3924300" cy="2527300"/>
          </a:xfrm>
          <a:prstGeom prst="rect">
            <a:avLst/>
          </a:prstGeom>
          <a:solidFill>
            <a:srgbClr val="0B0B0B"/>
          </a:solidFill>
          <a:ln w="12700">
            <a:solidFill>
              <a:srgbClr val="66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9960" y="1960879"/>
            <a:ext cx="3662680" cy="299720"/>
          </a:xfrm>
          <a:prstGeom prst="rect">
            <a:avLst/>
          </a:prstGeom>
          <a:solidFill>
            <a:srgbClr val="E00000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2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!!! ALARME !!!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9960" y="2311400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2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109 ALARMES NA LISTA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9960" y="2575564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5A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14:00:41 ALARME LT_201 HI 75.9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9960" y="2839721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0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14:00:42 ALARME LT_201 HI 76.1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9960" y="3103879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5A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14:01:15 ALARME FT_102 LO 38.4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9960" y="3368042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0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14:01:16 ALARME LT_201 HI 75.8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9960" y="3632200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5A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14:01:17 ALARME PT_101 HI 85.6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9960" y="3896364"/>
            <a:ext cx="3772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0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14:01:18 ALARME LT_201 HI 76.0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516121"/>
            <a:ext cx="405511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sem racionalização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0844" y="4810764"/>
            <a:ext cx="394944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cruzamento do limite vira uma linha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pisca, tudo é vermelho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em falha mostra 0,0 sem aviso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10150" y="1830071"/>
            <a:ext cx="6362700" cy="2527300"/>
          </a:xfrm>
          <a:prstGeom prst="rect">
            <a:avLst/>
          </a:prstGeom>
          <a:solidFill>
            <a:srgbClr val="E4E5E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0960" y="1960879"/>
            <a:ext cx="6101080" cy="416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5160010" y="1960879"/>
            <a:ext cx="0" cy="416560"/>
          </a:xfrm>
          <a:prstGeom prst="line">
            <a:avLst/>
          </a:prstGeom>
          <a:noFill/>
          <a:ln w="38100">
            <a:solidFill>
              <a:srgbClr val="1E22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8120" y="2037079"/>
            <a:ext cx="1333500" cy="264160"/>
          </a:xfrm>
          <a:prstGeom prst="roundRect">
            <a:avLst>
              <a:gd name="adj" fmla="val 9615"/>
            </a:avLst>
          </a:prstGeom>
          <a:solidFill>
            <a:srgbClr val="B42318"/>
          </a:solidFill>
          <a:ln/>
        </p:spPr>
        <p:txBody>
          <a:bodyPr wrap="square" lIns="56061" tIns="17961" rIns="5261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P1 CRÍTICA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3220" y="2062479"/>
            <a:ext cx="33997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Compressor C-101: pressão muito alta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15550" y="2037079"/>
            <a:ext cx="1024890" cy="264160"/>
          </a:xfrm>
          <a:prstGeom prst="roundRect">
            <a:avLst>
              <a:gd name="adj" fmla="val 9615"/>
            </a:avLst>
          </a:prstGeom>
          <a:solidFill>
            <a:srgbClr val="1E222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40960" y="2440942"/>
            <a:ext cx="6101080" cy="365760"/>
          </a:xfrm>
          <a:prstGeom prst="rect">
            <a:avLst/>
          </a:prstGeom>
          <a:solidFill>
            <a:srgbClr val="EC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491742"/>
            <a:ext cx="1181100" cy="264160"/>
          </a:xfrm>
          <a:prstGeom prst="roundRect">
            <a:avLst>
              <a:gd name="adj" fmla="val 9615"/>
            </a:avLst>
          </a:prstGeom>
          <a:solidFill>
            <a:srgbClr val="2463A6"/>
          </a:solidFill>
          <a:ln/>
        </p:spPr>
        <p:txBody>
          <a:bodyPr wrap="square" lIns="56061" tIns="17961" rIns="5261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P4 BAIXA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7660" y="2517142"/>
            <a:ext cx="4596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Vazão do 1º estágio baixa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40960" y="2870200"/>
            <a:ext cx="6101080" cy="365760"/>
          </a:xfrm>
          <a:prstGeom prst="rect">
            <a:avLst/>
          </a:prstGeom>
          <a:solidFill>
            <a:srgbClr val="EC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921000"/>
            <a:ext cx="1181100" cy="264160"/>
          </a:xfrm>
          <a:prstGeom prst="roundRect">
            <a:avLst>
              <a:gd name="adj" fmla="val 9615"/>
            </a:avLst>
          </a:prstGeom>
          <a:solidFill>
            <a:srgbClr val="2463A6"/>
          </a:solidFill>
          <a:ln/>
        </p:spPr>
        <p:txBody>
          <a:bodyPr wrap="square" lIns="56061" tIns="17961" rIns="5261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P4 BAIXA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7660" y="2946400"/>
            <a:ext cx="4596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Pressão do coletor baixa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40960" y="3299464"/>
            <a:ext cx="6101080" cy="365760"/>
          </a:xfrm>
          <a:prstGeom prst="rect">
            <a:avLst/>
          </a:prstGeom>
          <a:solidFill>
            <a:srgbClr val="ECEDED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350264"/>
            <a:ext cx="1181100" cy="264160"/>
          </a:xfrm>
          <a:prstGeom prst="roundRect">
            <a:avLst>
              <a:gd name="adj" fmla="val 9615"/>
            </a:avLst>
          </a:prstGeom>
          <a:solidFill>
            <a:srgbClr val="2463A6"/>
          </a:solidFill>
          <a:ln/>
        </p:spPr>
        <p:txBody>
          <a:bodyPr wrap="square" lIns="56061" tIns="17961" rIns="5261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P4 BAIXA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7660" y="3375664"/>
            <a:ext cx="4596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Resfriador E-102 quente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40960" y="3728721"/>
            <a:ext cx="6101080" cy="416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0010" y="3728721"/>
            <a:ext cx="0" cy="416560"/>
          </a:xfrm>
          <a:prstGeom prst="line">
            <a:avLst/>
          </a:prstGeom>
          <a:noFill/>
          <a:ln w="38100">
            <a:solidFill>
              <a:srgbClr val="1E22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78120" y="3804921"/>
            <a:ext cx="1333500" cy="264160"/>
          </a:xfrm>
          <a:prstGeom prst="roundRect">
            <a:avLst>
              <a:gd name="adj" fmla="val 9615"/>
            </a:avLst>
          </a:prstGeom>
          <a:solidFill>
            <a:srgbClr val="F2C94C"/>
          </a:solidFill>
          <a:ln/>
        </p:spPr>
        <p:txBody>
          <a:bodyPr wrap="square" lIns="56061" tIns="17961" rIns="5261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P3 MÉDIA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13220" y="3830321"/>
            <a:ext cx="45600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TT-105: SINAL RUIM, não confiável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3800" y="4516121"/>
            <a:ext cx="65666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com o motor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01844" y="4810764"/>
            <a:ext cx="646099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só para o anormal; prioridade com cor e forma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Sintomas agrupados sob a causa-raiz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recomendada e botão Reconhecer em cada linha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 simplificada das telas reais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B5520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TELA B EM DETALHE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operador encontra na tela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5200650" cy="1289050"/>
          </a:xfrm>
          <a:prstGeom prst="roundRect">
            <a:avLst>
              <a:gd name="adj" fmla="val 5665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32000"/>
            <a:ext cx="493415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Visão de processo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1080" y="2413000"/>
            <a:ext cx="493415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cartões com valor, limite e prioridade. Sensor em falha aparece hachurado como SINAL RUIM.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5375" y="1826896"/>
            <a:ext cx="5200650" cy="1289050"/>
          </a:xfrm>
          <a:prstGeom prst="roundRect">
            <a:avLst>
              <a:gd name="adj" fmla="val 5665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2032000"/>
            <a:ext cx="493415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Lista de alarmes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80480" y="2413000"/>
            <a:ext cx="493415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reconhecidos primeiro, depois prioridade e horário. Sintomas aparecem com ↳ sob a causa.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274696"/>
            <a:ext cx="5200650" cy="1289050"/>
          </a:xfrm>
          <a:prstGeom prst="roundRect">
            <a:avLst>
              <a:gd name="adj" fmla="val 5665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479800"/>
            <a:ext cx="493415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Registro do operador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1080" y="3860800"/>
            <a:ext cx="493415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reconheceu, quando e com que resultado. Reconhecer não apaga o alarme.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5375" y="3274696"/>
            <a:ext cx="5200650" cy="1289050"/>
          </a:xfrm>
          <a:prstGeom prst="roundRect">
            <a:avLst>
              <a:gd name="adj" fmla="val 5665"/>
            </a:avLst>
          </a:prstGeom>
          <a:solidFill>
            <a:srgbClr val="F8F7F4"/>
          </a:solidFill>
          <a:ln w="6350">
            <a:solidFill>
              <a:srgbClr val="D3D1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0480" y="3479800"/>
            <a:ext cx="493415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5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0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Transparência do filtro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80480" y="3860800"/>
            <a:ext cx="493415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de tudo o que foi agrupado, rebaixado ou inibido: nada é apagado.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820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Controles:</a:t>
            </a:r>
            <a:r>
              <a:rPr lang="en-US" sz="1400" dirty="0">
                <a:solidFill>
                  <a:srgbClr val="1E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▶ Reproduzir · +1 passo · ⏭ Ir para o trip · velocidade · A + B / Só A / Só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alarmes · Compressor C-101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5913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88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ENCERRAMENTO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15542"/>
            <a:ext cx="5700781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109 avisos</a:t>
            </a:r>
            <a:endParaRPr lang="en-US" sz="56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EE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5 decisões.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ão de Alarmes – Compressor C-101">
  <a:themeElements>
    <a:clrScheme name="Gestão de Alarmes – Compressor C-101">
      <a:dk1>
        <a:srgbClr val="1E2226"/>
      </a:dk1>
      <a:lt1>
        <a:srgbClr val="EEEDEA"/>
      </a:lt1>
      <a:dk2>
        <a:srgbClr val="525557"/>
      </a:dk2>
      <a:lt2>
        <a:srgbClr val="D9D9D6"/>
      </a:lt2>
      <a:accent1>
        <a:srgbClr val="B5520F"/>
      </a:accent1>
      <a:accent2>
        <a:srgbClr val="E8833A"/>
      </a:accent2>
      <a:accent3>
        <a:srgbClr val="F6D9C2"/>
      </a:accent3>
      <a:accent4>
        <a:srgbClr val="2463A6"/>
      </a:accent4>
      <a:accent5>
        <a:srgbClr val="FF5A5A"/>
      </a:accent5>
      <a:accent6>
        <a:srgbClr val="FFD000"/>
      </a:accent6>
      <a:hlink>
        <a:srgbClr val="0563C1"/>
      </a:hlink>
      <a:folHlink>
        <a:srgbClr val="954F72"/>
      </a:folHlink>
    </a:clrScheme>
    <a:fontScheme name="Gestão de Alarmes – Compressor C-101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1791</Words>
  <Application>Microsoft Office PowerPoint</Application>
  <PresentationFormat>Widescreen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Gestão de Alarmes – Compressor C-101</vt:lpstr>
      <vt:lpstr>Menos alarmes, mais decisão</vt:lpstr>
      <vt:lpstr>Quando tudo alarma, nada alarma.</vt:lpstr>
      <vt:lpstr>Normas usadas como referência conceitual</vt:lpstr>
      <vt:lpstr>Quatro peças, um único caminho de dados</vt:lpstr>
      <vt:lpstr>Reconhecer não resolve o alarme</vt:lpstr>
      <vt:lpstr>150 segundos na vida do compressor C-101</vt:lpstr>
      <vt:lpstr>Mesma planta, duas telas lado a lado</vt:lpstr>
      <vt:lpstr>O que o operador encontra na tela</vt:lpstr>
      <vt:lpstr>De 109 avisos para 5 decisões.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Alarmes – Compressor C-101</dc:title>
  <dc:subject/>
  <dc:creator/>
  <cp:lastModifiedBy>Bruno Henrique</cp:lastModifiedBy>
  <cp:revision>4</cp:revision>
  <dcterms:created xsi:type="dcterms:W3CDTF">2026-10-21T00:04:36Z</dcterms:created>
  <dcterms:modified xsi:type="dcterms:W3CDTF">2026-10-21T00:09:28Z</dcterms:modified>
</cp:coreProperties>
</file>